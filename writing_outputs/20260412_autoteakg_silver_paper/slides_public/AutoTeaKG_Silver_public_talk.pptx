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每天都可能喝茶，也常听到绿茶抗氧化、黑茶调肠道、茶多酚有健康作用。但这些说法来自很多不同论文，强弱不一。今天我想讲的不是‘茶一定有什么神奇功效’，而是我们如何把这些分散证据整理成一张可以查询、可以追溯、也能标出不确定性的证据地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个问题是叫法不统一。第二个问题是证据层级不同，动物实验和人群研究不能直接等同。第三个问题是茶不是一个固定对象，加工和提取会改变它的成分。所以普通读者看到的‘茶有益健康’，背后其实是很多不同层级、不同对象、不同条件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核心思路很朴素：先不急着判断茶有没有某个功效，而是把论文中的证据结构化。每条证据都保留来源、研究类型、活性类别、茶成分、加工或提取信息，以及它的不确定性。这样以后讨论某个健康说法时，就能先看证据地图，而不是只看单篇论文标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AutoTeaKG-Silver 是一个自动生成的证据图谱。Silver-standard 的意思是：它不是人工逐条确认的黄金标准，但每条记录都有来源和不确定性标记。它更像一张可持续更新的证据底图，适合帮助研究者发现哪里证据强，哪里证据弱，哪里需要进一步核查。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当前版本包含 635 条证据记录，接近 2000 个节点，8000 多条关系。这里的节点可以是论文、证据记录、茶类型、成分类别、活性类别、证据级别、机制、菌群、代谢物和不确定性标签。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这张热图展示不同活性类别对应的证据层级。普通传播里常把证据混在一起，但图谱会把动物实验、综述、人群观察、随机试验分开。这样我们就能问：某个茶功能说法到底是动物证据多，还是已经有人群证据？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茶的加工和提取会影响成分，但论文摘要里经常不写这些细节。我们先用规则抽取，再用大模型抽取摘要，再去开放全文的方法部分找。最后确实补到一些信息，但仍有 303 条记录缺少加工或提取上下文。这是一个重要结果：不是模型再问一遍就能解决，很多信息本来就没有公开在摘要里。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知识图谱看起来很确定，但实际上自动抽取会有不确定性。我们的做法是把不确定性作为图谱的一部分：比如低置信度、机制太泛、缺少加工信息、只有动物证据等。用户可以根据需要只看低不确定性证据，或者专门查看高不确定性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个图谱查询例子。我们问：茶多糖如何和肠道菌群、代谢物、肝脏表型连接？图谱能把茶多糖、菌群调节、丁酸或短链脂肪酸、肝脏炎症或脂质沉积放在同一条路径里，并且仍然保留这些证据来自什么研究、是否是动物实验、置信度如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需要特别强调：这项工作不是在给任何茶产品背书，也不是健康建议。它的价值是把证据变得可追溯、可筛选、可更新。研究者可以用它找证据空白，普通读者也能理解为什么某些说法听起来很强，但实际上证据层级可能还不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步我们会做三件事。第一，完成抽样人工验证，量化哪些字段可靠、哪些需要改进。第二，让系统持续更新。第三，把它用于机制查询、综述写作和实验选题。最终目标是让茶功能活性研究从碎片化文本，变成可查询、可复核、可持续更新的证据基础设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最后用一句话总结：我们不是简单回答茶有没有某种功效，而是把问题变得更科学：哪些证据支持这个说法，证据有多强，来自什么研究，还缺少什么上下文。这就是 AutoTeaKG-Silver 的核心价值。谢谢大家。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这一页停留在问答环节。可以根据听众问题，补充解释证据级别、银标准图谱、为什么需要人工验证，以及这个系统如何帮助后续茶研究。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224449"/>
                </a:solidFill>
                <a:latin typeface="Microsoft YaHei"/>
              </a:rPr>
              <a:t>一杯茶背后，有一片证据森林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1488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8F6435"/>
                </a:solidFill>
                <a:latin typeface="Microsoft YaHei"/>
              </a:rPr>
              <a:t>AutoTeaKG-Silver：把茶功能活性文献变成可查询的证据地图</a:t>
            </a:r>
          </a:p>
        </p:txBody>
      </p:sp>
      <p:pic>
        <p:nvPicPr>
          <p:cNvPr id="4" name="Picture 3" descr="fig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63240"/>
            <a:ext cx="10607040" cy="2423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85C5E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4449"/>
                </a:solidFill>
                <a:latin typeface="Microsoft YaHei"/>
              </a:rPr>
              <a:t>问题：茶研究很多，但很难比较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51560" cy="64008"/>
          </a:xfrm>
          <a:prstGeom prst="rect">
            <a:avLst/>
          </a:prstGeom>
          <a:solidFill>
            <a:srgbClr val="E0AC4F"/>
          </a:solidFill>
          <a:ln>
            <a:solidFill>
              <a:srgbClr val="E0A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31546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F6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130552"/>
            <a:ext cx="2825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F6435"/>
                </a:solidFill>
                <a:latin typeface="Microsoft YaHei"/>
              </a:rPr>
              <a:t>叫法不同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624328"/>
            <a:ext cx="2825496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4449"/>
                </a:solidFill>
                <a:latin typeface="Microsoft YaHei"/>
              </a:rPr>
              <a:t>绿茶、EGCG、茶多酚、发酵茶、茶多糖常被混用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965960"/>
            <a:ext cx="31546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E9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2130552"/>
            <a:ext cx="2825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E9A7E"/>
                </a:solidFill>
                <a:latin typeface="Microsoft YaHei"/>
              </a:rPr>
              <a:t>证据不同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624328"/>
            <a:ext cx="2825496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4449"/>
                </a:solidFill>
                <a:latin typeface="Microsoft YaHei"/>
              </a:rPr>
              <a:t>细胞、动物、人群、综述常被放在一起讨论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965960"/>
            <a:ext cx="31546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D6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2130552"/>
            <a:ext cx="2825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D654B"/>
                </a:solidFill>
                <a:latin typeface="Microsoft YaHei"/>
              </a:rPr>
              <a:t>工艺不同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2624328"/>
            <a:ext cx="2825496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4449"/>
                </a:solidFill>
                <a:latin typeface="Microsoft YaHei"/>
              </a:rPr>
              <a:t>加工、提取、发酵会改变成分和解释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85C5E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4449"/>
                </a:solidFill>
                <a:latin typeface="Microsoft YaHei"/>
              </a:rPr>
              <a:t>我们的想法：先不要下结论，先整理证据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51560" cy="64008"/>
          </a:xfrm>
          <a:prstGeom prst="rect">
            <a:avLst/>
          </a:prstGeom>
          <a:solidFill>
            <a:srgbClr val="E0AC4F"/>
          </a:solidFill>
          <a:ln>
            <a:solidFill>
              <a:srgbClr val="E0A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0">
                <a:solidFill>
                  <a:srgbClr val="8F6435"/>
                </a:solidFill>
                <a:latin typeface="Microsoft YaHei"/>
              </a:rPr>
              <a:t>把散落的论文，变成可以追溯的证据路径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F6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907792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F6435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401568"/>
            <a:ext cx="1499616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4449"/>
                </a:solidFill>
                <a:latin typeface="Microsoft YaHei"/>
              </a:rPr>
              <a:t>检索文献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33472" y="3063240"/>
            <a:ext cx="822960" cy="320040"/>
          </a:xfrm>
          <a:prstGeom prst="rightArrow">
            <a:avLst/>
          </a:prstGeom>
          <a:solidFill>
            <a:srgbClr val="E0AC4F"/>
          </a:solidFill>
          <a:ln>
            <a:solidFill>
              <a:srgbClr val="E0A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91840" y="274320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F6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2907792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F6435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3401568"/>
            <a:ext cx="1499616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4449"/>
                </a:solidFill>
                <a:latin typeface="Microsoft YaHei"/>
              </a:rPr>
              <a:t>抽取证据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93792" y="3063240"/>
            <a:ext cx="822960" cy="320040"/>
          </a:xfrm>
          <a:prstGeom prst="rightArrow">
            <a:avLst/>
          </a:prstGeom>
          <a:solidFill>
            <a:srgbClr val="E0AC4F"/>
          </a:solidFill>
          <a:ln>
            <a:solidFill>
              <a:srgbClr val="E0A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52160" y="274320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E9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6752" y="2907792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E9A7E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3401568"/>
            <a:ext cx="1499616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4449"/>
                </a:solidFill>
                <a:latin typeface="Microsoft YaHei"/>
              </a:rPr>
              <a:t>标注不确定性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54112" y="3063240"/>
            <a:ext cx="822960" cy="320040"/>
          </a:xfrm>
          <a:prstGeom prst="rightArrow">
            <a:avLst/>
          </a:prstGeom>
          <a:solidFill>
            <a:srgbClr val="E0AC4F"/>
          </a:solidFill>
          <a:ln>
            <a:solidFill>
              <a:srgbClr val="E0A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2743200"/>
            <a:ext cx="18288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E9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2907792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E9A7E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3401568"/>
            <a:ext cx="1499616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4449"/>
                </a:solidFill>
                <a:latin typeface="Microsoft YaHei"/>
              </a:rPr>
              <a:t>生成图谱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85C5E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4449"/>
                </a:solidFill>
                <a:latin typeface="Microsoft YaHei"/>
              </a:rPr>
              <a:t>AutoTeaKG-Silver 是什么？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51560" cy="64008"/>
          </a:xfrm>
          <a:prstGeom prst="rect">
            <a:avLst/>
          </a:prstGeom>
          <a:solidFill>
            <a:srgbClr val="E0AC4F"/>
          </a:solidFill>
          <a:ln>
            <a:solidFill>
              <a:srgbClr val="E0A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40080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508760"/>
            <a:ext cx="40233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24449"/>
                </a:solidFill>
                <a:latin typeface="Microsoft YaHei"/>
              </a:defRPr>
            </a:pPr>
            <a:r>
              <a:t>自动从 PubMed 和开放全文中抽取茶功能活性证据</a:t>
            </a:r>
          </a:p>
          <a:p>
            <a:pPr>
              <a:spcAft>
                <a:spcPts val="900"/>
              </a:spcAft>
              <a:defRPr sz="2000">
                <a:solidFill>
                  <a:srgbClr val="224449"/>
                </a:solidFill>
                <a:latin typeface="Microsoft YaHei"/>
              </a:defRPr>
            </a:pPr>
            <a:r>
              <a:t>每条关系都保留 PMID、证据级别和不确定性</a:t>
            </a:r>
          </a:p>
          <a:p>
            <a:pPr>
              <a:spcAft>
                <a:spcPts val="900"/>
              </a:spcAft>
              <a:defRPr sz="2000">
                <a:solidFill>
                  <a:srgbClr val="224449"/>
                </a:solidFill>
                <a:latin typeface="Microsoft YaHei"/>
              </a:defRPr>
            </a:pPr>
            <a:r>
              <a:t>目标是 silver-standard，不假装每条边都已人工验证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85C5E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4449"/>
                </a:solidFill>
                <a:latin typeface="Microsoft YaHei"/>
              </a:rPr>
              <a:t>当前图谱有多大？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51560" cy="64008"/>
          </a:xfrm>
          <a:prstGeom prst="rect">
            <a:avLst/>
          </a:prstGeom>
          <a:solidFill>
            <a:srgbClr val="E0AC4F"/>
          </a:solidFill>
          <a:ln>
            <a:solidFill>
              <a:srgbClr val="E0A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29718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F6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039112"/>
            <a:ext cx="2642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F6435"/>
                </a:solidFill>
                <a:latin typeface="Microsoft YaHei"/>
              </a:rPr>
              <a:t>635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532887"/>
            <a:ext cx="2642616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4449"/>
                </a:solidFill>
                <a:latin typeface="Microsoft YaHei"/>
              </a:rPr>
              <a:t>证据记录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2514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8F6435"/>
                </a:solidFill>
                <a:latin typeface="Microsoft YaHei"/>
              </a:rPr>
              <a:t>635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2514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24449"/>
                </a:solidFill>
                <a:latin typeface="Microsoft YaHei"/>
              </a:rPr>
              <a:t>证据记录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74519"/>
            <a:ext cx="29718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E9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2039112"/>
            <a:ext cx="2642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E9A7E"/>
                </a:solidFill>
                <a:latin typeface="Microsoft YaHei"/>
              </a:rPr>
              <a:t>1,989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532887"/>
            <a:ext cx="2642616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4449"/>
                </a:solidFill>
                <a:latin typeface="Microsoft YaHei"/>
              </a:rPr>
              <a:t>图谱节点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148840"/>
            <a:ext cx="2514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7E9A7E"/>
                </a:solidFill>
                <a:latin typeface="Microsoft YaHei"/>
              </a:rPr>
              <a:t>1,989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063240"/>
            <a:ext cx="2514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24449"/>
                </a:solidFill>
                <a:latin typeface="Microsoft YaHei"/>
              </a:rPr>
              <a:t>图谱节点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74519"/>
            <a:ext cx="2971800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D6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039112"/>
            <a:ext cx="2642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D654B"/>
                </a:solidFill>
                <a:latin typeface="Microsoft YaHei"/>
              </a:rPr>
              <a:t>8,195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532887"/>
            <a:ext cx="2642616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4449"/>
                </a:solidFill>
                <a:latin typeface="Microsoft YaHei"/>
              </a:rPr>
              <a:t>图谱关系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148840"/>
            <a:ext cx="2514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CD654B"/>
                </a:solidFill>
                <a:latin typeface="Microsoft YaHei"/>
              </a:rPr>
              <a:t>8,195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063240"/>
            <a:ext cx="2514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24449"/>
                </a:solidFill>
                <a:latin typeface="Microsoft YaHei"/>
              </a:rPr>
              <a:t>图谱关系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85C5E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4449"/>
                </a:solidFill>
                <a:latin typeface="Microsoft YaHei"/>
              </a:rPr>
              <a:t>证据不是一样强：这是图谱必须记录的事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51560" cy="64008"/>
          </a:xfrm>
          <a:prstGeom prst="rect">
            <a:avLst/>
          </a:prstGeom>
          <a:solidFill>
            <a:srgbClr val="E0AC4F"/>
          </a:solidFill>
          <a:ln>
            <a:solidFill>
              <a:srgbClr val="E0A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activity_evide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40080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508760"/>
            <a:ext cx="40233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24449"/>
                </a:solidFill>
                <a:latin typeface="Microsoft YaHei"/>
              </a:defRPr>
            </a:pPr>
            <a:r>
              <a:t>有些结论主要来自动物实验</a:t>
            </a:r>
          </a:p>
          <a:p>
            <a:pPr>
              <a:spcAft>
                <a:spcPts val="900"/>
              </a:spcAft>
              <a:defRPr sz="2000">
                <a:solidFill>
                  <a:srgbClr val="224449"/>
                </a:solidFill>
                <a:latin typeface="Microsoft YaHei"/>
              </a:defRPr>
            </a:pPr>
            <a:r>
              <a:t>有些结论有人群研究支持</a:t>
            </a:r>
          </a:p>
          <a:p>
            <a:pPr>
              <a:spcAft>
                <a:spcPts val="900"/>
              </a:spcAft>
              <a:defRPr sz="2000">
                <a:solidFill>
                  <a:srgbClr val="224449"/>
                </a:solidFill>
                <a:latin typeface="Microsoft YaHei"/>
              </a:defRPr>
            </a:pPr>
            <a:r>
              <a:t>图谱把证据层级显式分开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85C5E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4449"/>
                </a:solidFill>
                <a:latin typeface="Microsoft YaHei"/>
              </a:rPr>
              <a:t>加工和提取信息，是最容易缺失的关键上下文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51560" cy="64008"/>
          </a:xfrm>
          <a:prstGeom prst="rect">
            <a:avLst/>
          </a:prstGeom>
          <a:solidFill>
            <a:srgbClr val="E0AC4F"/>
          </a:solidFill>
          <a:ln>
            <a:solidFill>
              <a:srgbClr val="E0A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context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40080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508760"/>
            <a:ext cx="40233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24449"/>
                </a:solidFill>
                <a:latin typeface="Microsoft YaHei"/>
              </a:defRPr>
            </a:pPr>
            <a:r>
              <a:t>加工背景从 146 条提升到 183 条</a:t>
            </a:r>
          </a:p>
          <a:p>
            <a:pPr>
              <a:spcAft>
                <a:spcPts val="900"/>
              </a:spcAft>
              <a:defRPr sz="2000">
                <a:solidFill>
                  <a:srgbClr val="224449"/>
                </a:solidFill>
                <a:latin typeface="Microsoft YaHei"/>
              </a:defRPr>
            </a:pPr>
            <a:r>
              <a:t>提取背景从 154 条提升到 185 条</a:t>
            </a:r>
          </a:p>
          <a:p>
            <a:pPr>
              <a:spcAft>
                <a:spcPts val="900"/>
              </a:spcAft>
              <a:defRPr sz="2000">
                <a:solidFill>
                  <a:srgbClr val="224449"/>
                </a:solidFill>
                <a:latin typeface="Microsoft YaHei"/>
              </a:defRPr>
            </a:pPr>
            <a:r>
              <a:t>仍有 303 条缺少这类上下文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85C5E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4449"/>
                </a:solidFill>
                <a:latin typeface="Microsoft YaHei"/>
              </a:rPr>
              <a:t>我们不隐藏不确定性，而是把它放进图谱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51560" cy="64008"/>
          </a:xfrm>
          <a:prstGeom prst="rect">
            <a:avLst/>
          </a:prstGeom>
          <a:solidFill>
            <a:srgbClr val="E0AC4F"/>
          </a:solidFill>
          <a:ln>
            <a:solidFill>
              <a:srgbClr val="E0A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uncertainty_by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40080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508760"/>
            <a:ext cx="40233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24449"/>
                </a:solidFill>
                <a:latin typeface="Microsoft YaHei"/>
              </a:defRPr>
            </a:pPr>
            <a:r>
              <a:t>低不确定性：100 条</a:t>
            </a:r>
          </a:p>
          <a:p>
            <a:pPr>
              <a:spcAft>
                <a:spcPts val="900"/>
              </a:spcAft>
              <a:defRPr sz="2000">
                <a:solidFill>
                  <a:srgbClr val="224449"/>
                </a:solidFill>
                <a:latin typeface="Microsoft YaHei"/>
              </a:defRPr>
            </a:pPr>
            <a:r>
              <a:t>中等不确定性：470 条</a:t>
            </a:r>
          </a:p>
          <a:p>
            <a:pPr>
              <a:spcAft>
                <a:spcPts val="900"/>
              </a:spcAft>
              <a:defRPr sz="2000">
                <a:solidFill>
                  <a:srgbClr val="224449"/>
                </a:solidFill>
                <a:latin typeface="Microsoft YaHei"/>
              </a:defRPr>
            </a:pPr>
            <a:r>
              <a:t>高不确定性：65 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85C5E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4449"/>
                </a:solidFill>
                <a:latin typeface="Microsoft YaHei"/>
              </a:rPr>
              <a:t>图谱能回答什么问题？一个例子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51560" cy="64008"/>
          </a:xfrm>
          <a:prstGeom prst="rect">
            <a:avLst/>
          </a:prstGeom>
          <a:solidFill>
            <a:srgbClr val="E0AC4F"/>
          </a:solidFill>
          <a:ln>
            <a:solidFill>
              <a:srgbClr val="E0A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graph_query_polysaccharide_microbi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40080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508760"/>
            <a:ext cx="40233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24449"/>
                </a:solidFill>
                <a:latin typeface="Microsoft YaHei"/>
              </a:defRPr>
            </a:pPr>
            <a:r>
              <a:t>问题：茶多糖如何连接肠道菌群和肝脏表型？</a:t>
            </a:r>
          </a:p>
          <a:p>
            <a:pPr>
              <a:spcAft>
                <a:spcPts val="900"/>
              </a:spcAft>
              <a:defRPr sz="2000">
                <a:solidFill>
                  <a:srgbClr val="224449"/>
                </a:solidFill>
                <a:latin typeface="Microsoft YaHei"/>
              </a:defRPr>
            </a:pPr>
            <a:r>
              <a:t>结果：找到丁酸、SCFAs、肝脏炎症、脂质沉积等路径</a:t>
            </a:r>
          </a:p>
          <a:p>
            <a:pPr>
              <a:spcAft>
                <a:spcPts val="900"/>
              </a:spcAft>
              <a:defRPr sz="2000">
                <a:solidFill>
                  <a:srgbClr val="224449"/>
                </a:solidFill>
                <a:latin typeface="Microsoft YaHei"/>
              </a:defRPr>
            </a:pPr>
            <a:r>
              <a:t>每条路径仍保留证据级别和不确定性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85C5E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4449"/>
                </a:solidFill>
                <a:latin typeface="Microsoft YaHei"/>
              </a:rPr>
              <a:t>这不是“证明茶有效”，而是“让证据可追溯”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51560" cy="64008"/>
          </a:xfrm>
          <a:prstGeom prst="rect">
            <a:avLst/>
          </a:prstGeom>
          <a:solidFill>
            <a:srgbClr val="E0AC4F"/>
          </a:solidFill>
          <a:ln>
            <a:solidFill>
              <a:srgbClr val="E0A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4846320" cy="397763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D6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764792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D654B"/>
                </a:solidFill>
                <a:latin typeface="Microsoft YaHei"/>
              </a:rPr>
              <a:t>不要过度解读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258568"/>
            <a:ext cx="4517136" cy="315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4449"/>
                </a:solidFill>
                <a:latin typeface="Microsoft YaHei"/>
              </a:rPr>
              <a:t>不是人工确认的金标准</a:t>
            </a:r>
            <a:br/>
            <a:r>
              <a:t>不是因果证明</a:t>
            </a:r>
            <a:br/>
            <a:r>
              <a:t>不是健康建议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600200"/>
            <a:ext cx="4846320" cy="397763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E9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764792"/>
            <a:ext cx="4517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E9A7E"/>
                </a:solidFill>
                <a:latin typeface="Microsoft YaHei"/>
              </a:rPr>
              <a:t>真正价值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1112" y="2258568"/>
            <a:ext cx="4517136" cy="3154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4449"/>
                </a:solidFill>
                <a:latin typeface="Microsoft YaHei"/>
              </a:rPr>
              <a:t>快速看到证据强弱</a:t>
            </a:r>
            <a:br/>
            <a:r>
              <a:t>发现缺少上下文的区域</a:t>
            </a:r>
            <a:br/>
            <a:r>
              <a:t>帮助设计下一步实验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85C5E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4449"/>
                </a:solidFill>
                <a:latin typeface="Microsoft YaHei"/>
              </a:rPr>
              <a:t>下一步：从证据地图走向可信知识库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51560" cy="64008"/>
          </a:xfrm>
          <a:prstGeom prst="rect">
            <a:avLst/>
          </a:prstGeom>
          <a:solidFill>
            <a:srgbClr val="E0AC4F"/>
          </a:solidFill>
          <a:ln>
            <a:solidFill>
              <a:srgbClr val="E0A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31546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F6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130552"/>
            <a:ext cx="2825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8F6435"/>
                </a:solidFill>
                <a:latin typeface="Microsoft YaHei"/>
              </a:rPr>
              <a:t>人工抽查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624328"/>
            <a:ext cx="2825496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4449"/>
                </a:solidFill>
                <a:latin typeface="Microsoft YaHei"/>
              </a:rPr>
              <a:t>完成 48 条分层样本的字段级验证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965960"/>
            <a:ext cx="31546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E9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2130552"/>
            <a:ext cx="2825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E9A7E"/>
                </a:solidFill>
                <a:latin typeface="Microsoft YaHei"/>
              </a:rPr>
              <a:t>持续更新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624328"/>
            <a:ext cx="2825496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4449"/>
                </a:solidFill>
                <a:latin typeface="Microsoft YaHei"/>
              </a:rPr>
              <a:t>定期抓取新 PubMed 文献并增量标注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965960"/>
            <a:ext cx="315468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D6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2" y="2130552"/>
            <a:ext cx="28254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D654B"/>
                </a:solidFill>
                <a:latin typeface="Microsoft YaHei"/>
              </a:rPr>
              <a:t>图谱应用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2624328"/>
            <a:ext cx="2825496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224449"/>
                </a:solidFill>
                <a:latin typeface="Microsoft YaHei"/>
              </a:rPr>
              <a:t>支持机制查询、综述写作和实验选题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85C5E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4449"/>
                </a:solidFill>
                <a:latin typeface="Microsoft YaHei"/>
              </a:rPr>
              <a:t>一句话总结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51560" cy="64008"/>
          </a:xfrm>
          <a:prstGeom prst="rect">
            <a:avLst/>
          </a:prstGeom>
          <a:solidFill>
            <a:srgbClr val="E0AC4F"/>
          </a:solidFill>
          <a:ln>
            <a:solidFill>
              <a:srgbClr val="E0A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224449"/>
                </a:solidFill>
                <a:latin typeface="Microsoft YaHei"/>
              </a:rPr>
              <a:t>AutoTeaKG-Silver 把“茶有什么作用？”变成了“哪些证据支持这个说法、证据有多强、还缺什么上下文？”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709160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8F6435"/>
                </a:solidFill>
                <a:latin typeface="Microsoft YaHei"/>
              </a:rPr>
              <a:t>从“结论”转向“证据路径”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85C5E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4449"/>
                </a:solidFill>
                <a:latin typeface="Microsoft YaHei"/>
              </a:rPr>
              <a:t>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051560" cy="64008"/>
          </a:xfrm>
          <a:prstGeom prst="rect">
            <a:avLst/>
          </a:prstGeom>
          <a:solidFill>
            <a:srgbClr val="E0AC4F"/>
          </a:solidFill>
          <a:ln>
            <a:solidFill>
              <a:srgbClr val="E0A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3268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400">
                <a:solidFill>
                  <a:srgbClr val="224449"/>
                </a:solidFill>
                <a:latin typeface="Microsoft YaHei"/>
              </a:defRPr>
            </a:pPr>
            <a:r>
              <a:t>项目：AutoTeaKG-Silver</a:t>
            </a:r>
          </a:p>
          <a:p>
            <a:pPr>
              <a:spcAft>
                <a:spcPts val="900"/>
              </a:spcAft>
              <a:defRPr sz="2400">
                <a:solidFill>
                  <a:srgbClr val="224449"/>
                </a:solidFill>
                <a:latin typeface="Microsoft YaHei"/>
              </a:defRPr>
            </a:pPr>
            <a:r>
              <a:t>代码与数据：github.com/ShawnXiha/AutoTeaKG_Silver</a:t>
            </a:r>
          </a:p>
          <a:p>
            <a:pPr>
              <a:spcAft>
                <a:spcPts val="900"/>
              </a:spcAft>
              <a:defRPr sz="2400">
                <a:solidFill>
                  <a:srgbClr val="224449"/>
                </a:solidFill>
                <a:latin typeface="Microsoft YaHei"/>
              </a:defRPr>
            </a:pPr>
            <a:r>
              <a:t>欢迎讨论：证据图谱、茶功能活性、自动文献抽取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3564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85C5E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