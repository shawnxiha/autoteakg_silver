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这页开场说明：本项目已经从想法、文献调研、数据抓取、LLM 标注、KG 构建、图表生成推进到论文 v6 和演示前端。今天汇报重点是项目价值、已有成果、风险和下一步需要老板决策的事项。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强调项目定位。这里要避免过度声称健康功效，把重点放在证据基础设施。老板需要听到的是：这个方向可以产出数据库/资源型论文，也能支撑后续课题和产品化探索。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这页回答为什么值得做。茶研究本身不新，但把功能活性、证据层级、加工/成分上下文和微生物机制统一进一个可计算图谱，仍然有明显资源空白。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用数字说明不是停留在概念。当前已有可展示的 KG v3，包括记录、节点、边和微生物机制子集。后面论文和前端都基于这版数据。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讲技术路线，但不要陷入实现细节。重点是 pipeline 是可复现的，且不是一次性 Excel 表。每条证据保留 PMID、研究类型、证据等级、置信度和不确定性标签。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这页说明结果价值。证据热图让我们能看到哪个方向证据更强，哪个方向还偏 preclinical。这是资源论文的重要图。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强调这是一个有意义的负结果。不是模型没做好，而是摘要和开放全文中本来就常常缺少工艺信息。这可以支撑论文中对 full text 和 methods extraction 的讨论。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这是回应 reviewer 会问的“为什么要 KG”。用茶多糖-菌群-代谢物-宿主表型路径作为例子，说明图谱不是单纯可视化，而是能做结构化查询。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向老板汇报项目管理状态。重点是已有论文、前端、PPT、仓库四类产物。说明现在不是初步探索，而是进入投稿前打磨阶段。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这页要实事求是。当前最大风险是没有填写完人工验证表，因此准确率不能报告。其它风险已有部分应对。老板需要知道接下来投入在哪里最有效。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提出明确下一步。最优先是完成 validation worksheet，因为这是论文可信度的关键。第二是确定目标期刊。第三才是模板和版面细调。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最后明确需要老板决策。不要只说我们做了什么，要说下一步需要什么资源和判断。特别是验证样本需要人工投入，目标期刊需要策略选择。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收尾强调项目已经具备成型成果，不是单点实验。下一步只要把验证和投稿格式补齐，就可以进入投稿准备。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C3438"/>
                </a:solidFill>
                <a:latin typeface="Microsoft YaHei"/>
              </a:rPr>
              <a:t>AutoTeaKG-Silver 项目进展汇报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2024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0">
                <a:solidFill>
                  <a:srgbClr val="845830"/>
                </a:solidFill>
                <a:latin typeface="Microsoft YaHei"/>
              </a:rPr>
              <a:t>茶功能活性文献的自动化证据图谱与论文投稿准备</a:t>
            </a:r>
          </a:p>
        </p:txBody>
      </p:sp>
      <p:pic>
        <p:nvPicPr>
          <p:cNvPr id="4" name="Picture 3" descr="fig_graphical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26080"/>
            <a:ext cx="10332720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668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3438"/>
                </a:solidFill>
                <a:latin typeface="Microsoft YaHei"/>
              </a:rPr>
              <a:t>一句话：把茶健康研究从“散文献”变成“证据地图”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960120" cy="54864"/>
          </a:xfrm>
          <a:prstGeom prst="rect">
            <a:avLst/>
          </a:prstGeom>
          <a:solidFill>
            <a:srgbClr val="DCA64A"/>
          </a:solidFill>
          <a:ln>
            <a:solidFill>
              <a:srgbClr val="DC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32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C3438"/>
                </a:solidFill>
                <a:latin typeface="Microsoft YaHei"/>
              </a:rPr>
              <a:t>我们不是证明“茶一定有效”，而是建立一套可追溯、可筛选、可更新的证据基础设施。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703320"/>
            <a:ext cx="8503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3438"/>
                </a:solidFill>
                <a:latin typeface="Microsoft YaHei"/>
              </a:defRPr>
            </a:pPr>
            <a:r>
              <a:t>适合支撑综述、课题申报和后续数据库/KG 论文</a:t>
            </a:r>
          </a:p>
          <a:p>
            <a:pPr>
              <a:spcAft>
                <a:spcPts val="800"/>
              </a:spcAft>
              <a:defRPr sz="2000">
                <a:solidFill>
                  <a:srgbClr val="1C3438"/>
                </a:solidFill>
                <a:latin typeface="Microsoft YaHei"/>
              </a:defRPr>
            </a:pPr>
            <a:r>
              <a:t>核心卖点：自动化、证据分级、不确定性、加工/提取上下文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668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3438"/>
                </a:solidFill>
                <a:latin typeface="Microsoft YaHei"/>
              </a:rPr>
              <a:t>为什么值得做：现有茶研究多，但结构化证据少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960120" cy="54864"/>
          </a:xfrm>
          <a:prstGeom prst="rect">
            <a:avLst/>
          </a:prstGeom>
          <a:solidFill>
            <a:srgbClr val="DCA64A"/>
          </a:solidFill>
          <a:ln>
            <a:solidFill>
              <a:srgbClr val="DC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154680" cy="2514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4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975104"/>
            <a:ext cx="28254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845830"/>
                </a:solidFill>
                <a:latin typeface="Microsoft YaHei"/>
              </a:rPr>
              <a:t>研究很多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523744"/>
            <a:ext cx="2825496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C3438"/>
                </a:solidFill>
                <a:latin typeface="Microsoft YaHei"/>
              </a:rPr>
              <a:t>PubMed 中茶活性、加工、微生物、人体证据持续增长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828800"/>
            <a:ext cx="3154680" cy="2514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C8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975104"/>
            <a:ext cx="28254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5C8268"/>
                </a:solidFill>
                <a:latin typeface="Microsoft YaHei"/>
              </a:rPr>
              <a:t>证据很碎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2523744"/>
            <a:ext cx="2825496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C3438"/>
                </a:solidFill>
                <a:latin typeface="Microsoft YaHei"/>
              </a:rPr>
              <a:t>茶类型、成分、模型、终点、加工信息不统一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828800"/>
            <a:ext cx="3154680" cy="2514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5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912" y="1975104"/>
            <a:ext cx="28254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C55D48"/>
                </a:solidFill>
                <a:latin typeface="Microsoft YaHei"/>
              </a:rPr>
              <a:t>资源缺位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2523744"/>
            <a:ext cx="2825496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C3438"/>
                </a:solidFill>
                <a:latin typeface="Microsoft YaHei"/>
              </a:rPr>
              <a:t>现有茶数据库偏基因组、转录组或风险物质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668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3438"/>
                </a:solidFill>
                <a:latin typeface="Microsoft YaHei"/>
              </a:rPr>
              <a:t>当前核心产物已经成型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960120" cy="54864"/>
          </a:xfrm>
          <a:prstGeom prst="rect">
            <a:avLst/>
          </a:prstGeom>
          <a:solidFill>
            <a:srgbClr val="DCA64A"/>
          </a:solidFill>
          <a:ln>
            <a:solidFill>
              <a:srgbClr val="DC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920240"/>
            <a:ext cx="251460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4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2066544"/>
            <a:ext cx="21854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845830"/>
                </a:solidFill>
                <a:latin typeface="Microsoft YaHei"/>
              </a:rPr>
              <a:t>635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615184"/>
            <a:ext cx="2185416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C3438"/>
                </a:solidFill>
                <a:latin typeface="Microsoft YaHei"/>
              </a:rPr>
              <a:t>证据记录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148840"/>
            <a:ext cx="2176272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845830"/>
                </a:solidFill>
                <a:latin typeface="Microsoft YaHei"/>
              </a:rPr>
              <a:t>635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971800"/>
            <a:ext cx="2176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C3438"/>
                </a:solidFill>
                <a:latin typeface="Microsoft YaHei"/>
              </a:rPr>
              <a:t>证据记录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920240"/>
            <a:ext cx="251460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C8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2066544"/>
            <a:ext cx="21854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5C8268"/>
                </a:solidFill>
                <a:latin typeface="Microsoft YaHei"/>
              </a:rPr>
              <a:t>1,989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615184"/>
            <a:ext cx="2185416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C3438"/>
                </a:solidFill>
                <a:latin typeface="Microsoft YaHei"/>
              </a:rPr>
              <a:t>KG 节点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148840"/>
            <a:ext cx="2176272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5C8268"/>
                </a:solidFill>
                <a:latin typeface="Microsoft YaHei"/>
              </a:rPr>
              <a:t>1,989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971800"/>
            <a:ext cx="2176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C3438"/>
                </a:solidFill>
                <a:latin typeface="Microsoft YaHei"/>
              </a:rPr>
              <a:t>KG 节点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920240"/>
            <a:ext cx="251460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66544"/>
            <a:ext cx="21854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DCA64A"/>
                </a:solidFill>
                <a:latin typeface="Microsoft YaHei"/>
              </a:rPr>
              <a:t>8,195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615184"/>
            <a:ext cx="2185416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C3438"/>
                </a:solidFill>
                <a:latin typeface="Microsoft YaHei"/>
              </a:rPr>
              <a:t>KG 关系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148840"/>
            <a:ext cx="2176272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DCA64A"/>
                </a:solidFill>
                <a:latin typeface="Microsoft YaHei"/>
              </a:rPr>
              <a:t>8,195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971800"/>
            <a:ext cx="2176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C3438"/>
                </a:solidFill>
                <a:latin typeface="Microsoft YaHei"/>
              </a:rPr>
              <a:t>KG 关系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920240"/>
            <a:ext cx="251460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5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0032" y="2066544"/>
            <a:ext cx="21854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C55D48"/>
                </a:solidFill>
                <a:latin typeface="Microsoft YaHei"/>
              </a:rPr>
              <a:t>190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2615184"/>
            <a:ext cx="2185416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C3438"/>
                </a:solidFill>
                <a:latin typeface="Microsoft YaHei"/>
              </a:rPr>
              <a:t>微生物相关记录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2148840"/>
            <a:ext cx="2176272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C55D48"/>
                </a:solidFill>
                <a:latin typeface="Microsoft YaHei"/>
              </a:rPr>
              <a:t>190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2971800"/>
            <a:ext cx="2176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C3438"/>
                </a:solidFill>
                <a:latin typeface="Microsoft YaHei"/>
              </a:rPr>
              <a:t>微生物相关记录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668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3438"/>
                </a:solidFill>
                <a:latin typeface="Microsoft YaHei"/>
              </a:rPr>
              <a:t>技术路线：自动化构建 + 不确定性显式标注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960120" cy="54864"/>
          </a:xfrm>
          <a:prstGeom prst="rect">
            <a:avLst/>
          </a:prstGeom>
          <a:solidFill>
            <a:srgbClr val="DCA64A"/>
          </a:solidFill>
          <a:ln>
            <a:solidFill>
              <a:srgbClr val="DC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graphical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4008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463040"/>
            <a:ext cx="41148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3438"/>
                </a:solidFill>
                <a:latin typeface="Microsoft YaHei"/>
              </a:defRPr>
            </a:pPr>
            <a:r>
              <a:t>PubMed 检索与去重</a:t>
            </a:r>
          </a:p>
          <a:p>
            <a:pPr>
              <a:spcAft>
                <a:spcPts val="800"/>
              </a:spcAft>
              <a:defRPr sz="2000">
                <a:solidFill>
                  <a:srgbClr val="1C3438"/>
                </a:solidFill>
                <a:latin typeface="Microsoft YaHei"/>
              </a:defRPr>
            </a:pPr>
            <a:r>
              <a:t>GLM5 自动抽取 evidence records</a:t>
            </a:r>
          </a:p>
          <a:p>
            <a:pPr>
              <a:spcAft>
                <a:spcPts val="800"/>
              </a:spcAft>
              <a:defRPr sz="2000">
                <a:solidFill>
                  <a:srgbClr val="1C3438"/>
                </a:solidFill>
                <a:latin typeface="Microsoft YaHei"/>
              </a:defRPr>
            </a:pPr>
            <a:r>
              <a:t>PMC methods 补加工/提取信息</a:t>
            </a:r>
          </a:p>
          <a:p>
            <a:pPr>
              <a:spcAft>
                <a:spcPts val="800"/>
              </a:spcAft>
              <a:defRPr sz="2000">
                <a:solidFill>
                  <a:srgbClr val="1C3438"/>
                </a:solidFill>
                <a:latin typeface="Microsoft YaHei"/>
              </a:defRPr>
            </a:pPr>
            <a:r>
              <a:t>导出 KG v3 + query tables + figures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668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3438"/>
                </a:solidFill>
                <a:latin typeface="Microsoft YaHei"/>
              </a:rPr>
              <a:t>关键发现 1：证据层级差异很大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960120" cy="54864"/>
          </a:xfrm>
          <a:prstGeom prst="rect">
            <a:avLst/>
          </a:prstGeom>
          <a:solidFill>
            <a:srgbClr val="DCA64A"/>
          </a:solidFill>
          <a:ln>
            <a:solidFill>
              <a:srgbClr val="DC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activity_evidenc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4008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463040"/>
            <a:ext cx="41148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3438"/>
                </a:solidFill>
                <a:latin typeface="Microsoft YaHei"/>
              </a:defRPr>
            </a:pPr>
            <a:r>
              <a:t>很多功能说法仍以动物研究和综述为主</a:t>
            </a:r>
          </a:p>
          <a:p>
            <a:pPr>
              <a:spcAft>
                <a:spcPts val="800"/>
              </a:spcAft>
              <a:defRPr sz="2000">
                <a:solidFill>
                  <a:srgbClr val="1C3438"/>
                </a:solidFill>
                <a:latin typeface="Microsoft YaHei"/>
              </a:defRPr>
            </a:pPr>
            <a:r>
              <a:t>人体干预/观察证据集中在少数方向</a:t>
            </a:r>
          </a:p>
          <a:p>
            <a:pPr>
              <a:spcAft>
                <a:spcPts val="800"/>
              </a:spcAft>
              <a:defRPr sz="2000">
                <a:solidFill>
                  <a:srgbClr val="1C3438"/>
                </a:solidFill>
                <a:latin typeface="Microsoft YaHei"/>
              </a:defRPr>
            </a:pPr>
            <a:r>
              <a:t>证据分级是论文的必要贡献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668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3438"/>
                </a:solidFill>
                <a:latin typeface="Microsoft YaHei"/>
              </a:rPr>
              <a:t>关键发现 2：加工/提取上下文是最大缺口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960120" cy="54864"/>
          </a:xfrm>
          <a:prstGeom prst="rect">
            <a:avLst/>
          </a:prstGeom>
          <a:solidFill>
            <a:srgbClr val="DCA64A"/>
          </a:solidFill>
          <a:ln>
            <a:solidFill>
              <a:srgbClr val="DC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context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4008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463040"/>
            <a:ext cx="41148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3438"/>
                </a:solidFill>
                <a:latin typeface="Microsoft YaHei"/>
              </a:defRPr>
            </a:pPr>
            <a:r>
              <a:t>processing context: 146 → 183</a:t>
            </a:r>
          </a:p>
          <a:p>
            <a:pPr>
              <a:spcAft>
                <a:spcPts val="800"/>
              </a:spcAft>
              <a:defRPr sz="2000">
                <a:solidFill>
                  <a:srgbClr val="1C3438"/>
                </a:solidFill>
                <a:latin typeface="Microsoft YaHei"/>
              </a:defRPr>
            </a:pPr>
            <a:r>
              <a:t>extraction context: 154 → 185</a:t>
            </a:r>
          </a:p>
          <a:p>
            <a:pPr>
              <a:spcAft>
                <a:spcPts val="800"/>
              </a:spcAft>
              <a:defRPr sz="2000">
                <a:solidFill>
                  <a:srgbClr val="1C3438"/>
                </a:solidFill>
                <a:latin typeface="Microsoft YaHei"/>
              </a:defRPr>
            </a:pPr>
            <a:r>
              <a:t>仍有 303 条缺少关键上下文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668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3438"/>
                </a:solidFill>
                <a:latin typeface="Microsoft YaHei"/>
              </a:rPr>
              <a:t>关键发现 3：图谱能支持机制路径查询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960120" cy="54864"/>
          </a:xfrm>
          <a:prstGeom prst="rect">
            <a:avLst/>
          </a:prstGeom>
          <a:solidFill>
            <a:srgbClr val="DCA64A"/>
          </a:solidFill>
          <a:ln>
            <a:solidFill>
              <a:srgbClr val="DC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graph_query_polysaccharide_microbi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4008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463040"/>
            <a:ext cx="41148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3438"/>
                </a:solidFill>
                <a:latin typeface="Microsoft YaHei"/>
              </a:defRPr>
            </a:pPr>
            <a:r>
              <a:t>示例：茶多糖 → 菌群/SCFAs → 肝脏炎症/脂质沉积</a:t>
            </a:r>
          </a:p>
          <a:p>
            <a:pPr>
              <a:spcAft>
                <a:spcPts val="800"/>
              </a:spcAft>
              <a:defRPr sz="2000">
                <a:solidFill>
                  <a:srgbClr val="1C3438"/>
                </a:solidFill>
                <a:latin typeface="Microsoft YaHei"/>
              </a:defRPr>
            </a:pPr>
            <a:r>
              <a:t>保留证据等级和不确定性</a:t>
            </a:r>
          </a:p>
          <a:p>
            <a:pPr>
              <a:spcAft>
                <a:spcPts val="800"/>
              </a:spcAft>
              <a:defRPr sz="2000">
                <a:solidFill>
                  <a:srgbClr val="1C3438"/>
                </a:solidFill>
                <a:latin typeface="Microsoft YaHei"/>
              </a:defRPr>
            </a:pPr>
            <a:r>
              <a:t>比关键词检索更适合机制整理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668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3438"/>
                </a:solidFill>
                <a:latin typeface="Microsoft YaHei"/>
              </a:rPr>
              <a:t>论文状态：已到 v6，适合资源/数据库方向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960120" cy="54864"/>
          </a:xfrm>
          <a:prstGeom prst="rect">
            <a:avLst/>
          </a:prstGeom>
          <a:solidFill>
            <a:srgbClr val="DCA64A"/>
          </a:solidFill>
          <a:ln>
            <a:solidFill>
              <a:srgbClr val="DC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05840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4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563624"/>
            <a:ext cx="97292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845830"/>
                </a:solidFill>
                <a:latin typeface="Microsoft YaHei"/>
              </a:rPr>
              <a:t>论文草稿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112264"/>
            <a:ext cx="9729216" cy="-73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C3438"/>
                </a:solidFill>
                <a:latin typeface="Microsoft YaHei"/>
              </a:rPr>
              <a:t>v6 Database-oriented PDF 已编译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23160"/>
            <a:ext cx="1005840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C8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569464"/>
            <a:ext cx="97292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5C8268"/>
                </a:solidFill>
                <a:latin typeface="Microsoft YaHei"/>
              </a:rPr>
              <a:t>前端展示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118104"/>
            <a:ext cx="9729216" cy="-73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C3438"/>
                </a:solidFill>
                <a:latin typeface="Microsoft YaHei"/>
              </a:rPr>
              <a:t>静态 KG explorer 已完成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29000"/>
            <a:ext cx="1005840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4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575304"/>
            <a:ext cx="97292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845830"/>
                </a:solidFill>
                <a:latin typeface="Microsoft YaHei"/>
              </a:rPr>
              <a:t>公众汇报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123944"/>
            <a:ext cx="9729216" cy="-73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C3438"/>
                </a:solidFill>
                <a:latin typeface="Microsoft YaHei"/>
              </a:rPr>
              <a:t>普通观众版 PPT 已完成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434840"/>
            <a:ext cx="1005840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C8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581144"/>
            <a:ext cx="97292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5C8268"/>
                </a:solidFill>
                <a:latin typeface="Microsoft YaHei"/>
              </a:rPr>
              <a:t>代码仓库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5129784"/>
            <a:ext cx="9729216" cy="-73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C3438"/>
                </a:solidFill>
                <a:latin typeface="Microsoft YaHei"/>
              </a:rPr>
              <a:t>已推送 GitHub: AutoTeaKG_Silver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668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3438"/>
                </a:solidFill>
                <a:latin typeface="Microsoft YaHei"/>
              </a:rPr>
              <a:t>主要风险与应对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960120" cy="54864"/>
          </a:xfrm>
          <a:prstGeom prst="rect">
            <a:avLst/>
          </a:prstGeom>
          <a:solidFill>
            <a:srgbClr val="DCA64A"/>
          </a:solidFill>
          <a:ln>
            <a:solidFill>
              <a:srgbClr val="DC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60704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5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563624"/>
            <a:ext cx="102778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C55D48"/>
                </a:solidFill>
                <a:latin typeface="Microsoft YaHei"/>
              </a:rPr>
              <a:t>审稿人质疑 LLM 抽取准确性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112264"/>
            <a:ext cx="10277856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C3438"/>
                </a:solidFill>
                <a:latin typeface="Microsoft YaHei"/>
              </a:rPr>
              <a:t>应对：已有 48 条验证样本模板，下一步需人工填写并统计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834640"/>
            <a:ext cx="1060704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5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980944"/>
            <a:ext cx="102778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C55D48"/>
                </a:solidFill>
                <a:latin typeface="Microsoft YaHei"/>
              </a:rPr>
              <a:t>认为只是工程流水线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529584"/>
            <a:ext cx="10277856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C3438"/>
                </a:solidFill>
                <a:latin typeface="Microsoft YaHei"/>
              </a:rPr>
              <a:t>应对：已加入不确定性模型、stage-wise QC、graph query 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251960"/>
            <a:ext cx="1060704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5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4398264"/>
            <a:ext cx="102778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C55D48"/>
                </a:solidFill>
                <a:latin typeface="Microsoft YaHei"/>
              </a:rPr>
              <a:t>版面与目标期刊格式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946904"/>
            <a:ext cx="10277856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C3438"/>
                </a:solidFill>
                <a:latin typeface="Microsoft YaHei"/>
              </a:rPr>
              <a:t>应对：已做 Database-oriented v6，仍需按目标期刊模板精修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668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3438"/>
                </a:solidFill>
                <a:latin typeface="Microsoft YaHei"/>
              </a:rPr>
              <a:t>建议下一步决策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960120" cy="54864"/>
          </a:xfrm>
          <a:prstGeom prst="rect">
            <a:avLst/>
          </a:prstGeom>
          <a:solidFill>
            <a:srgbClr val="DCA64A"/>
          </a:solidFill>
          <a:ln>
            <a:solidFill>
              <a:srgbClr val="DC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" y="2057400"/>
            <a:ext cx="306324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45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" y="2203704"/>
            <a:ext cx="27340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845830"/>
                </a:solidFill>
                <a:latin typeface="Microsoft YaHei"/>
              </a:rPr>
              <a:t>第 1 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2752344"/>
            <a:ext cx="2734056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C3438"/>
                </a:solidFill>
                <a:latin typeface="Microsoft YaHei"/>
              </a:rPr>
              <a:t>完成 48 条 validation worksheet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057400"/>
            <a:ext cx="306324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C8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28031" y="2203704"/>
            <a:ext cx="27340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5C8268"/>
                </a:solidFill>
                <a:latin typeface="Microsoft YaHei"/>
              </a:rPr>
              <a:t>第 2 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8031" y="2752344"/>
            <a:ext cx="2734056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C3438"/>
                </a:solidFill>
                <a:latin typeface="Microsoft YaHei"/>
              </a:rPr>
              <a:t>选择目标期刊：优先 Database / 资源型期刊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2057400"/>
            <a:ext cx="306324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5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2" y="2203704"/>
            <a:ext cx="27340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C55D48"/>
                </a:solidFill>
                <a:latin typeface="Microsoft YaHei"/>
              </a:rPr>
              <a:t>第 3 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2752344"/>
            <a:ext cx="2734056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C3438"/>
                </a:solidFill>
                <a:latin typeface="Microsoft YaHei"/>
              </a:rPr>
              <a:t>按模板做 v7 camera-ready 草案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668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3438"/>
                </a:solidFill>
                <a:latin typeface="Microsoft YaHei"/>
              </a:rPr>
              <a:t>需要老板支持的事项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960120" cy="54864"/>
          </a:xfrm>
          <a:prstGeom prst="rect">
            <a:avLst/>
          </a:prstGeom>
          <a:solidFill>
            <a:srgbClr val="DCA64A"/>
          </a:solidFill>
          <a:ln>
            <a:solidFill>
              <a:srgbClr val="DC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508760"/>
            <a:ext cx="98755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C3438"/>
                </a:solidFill>
                <a:latin typeface="Microsoft YaHei"/>
              </a:defRPr>
            </a:pPr>
            <a:r>
              <a:t>确认论文定位：资源/数据库论文，而不是算法论文</a:t>
            </a:r>
          </a:p>
          <a:p>
            <a:pPr>
              <a:spcAft>
                <a:spcPts val="800"/>
              </a:spcAft>
              <a:defRPr sz="2400">
                <a:solidFill>
                  <a:srgbClr val="1C3438"/>
                </a:solidFill>
                <a:latin typeface="Microsoft YaHei"/>
              </a:defRPr>
            </a:pPr>
            <a:r>
              <a:t>安排 1-2 人完成 48 条抽样验证</a:t>
            </a:r>
          </a:p>
          <a:p>
            <a:pPr>
              <a:spcAft>
                <a:spcPts val="800"/>
              </a:spcAft>
              <a:defRPr sz="2400">
                <a:solidFill>
                  <a:srgbClr val="1C3438"/>
                </a:solidFill>
                <a:latin typeface="Microsoft YaHei"/>
              </a:defRPr>
            </a:pPr>
            <a:r>
              <a:t>确定目标期刊或会议方向</a:t>
            </a:r>
          </a:p>
          <a:p>
            <a:pPr>
              <a:spcAft>
                <a:spcPts val="800"/>
              </a:spcAft>
              <a:defRPr sz="2400">
                <a:solidFill>
                  <a:srgbClr val="1C3438"/>
                </a:solidFill>
                <a:latin typeface="Microsoft YaHei"/>
              </a:defRPr>
            </a:pPr>
            <a:r>
              <a:t>决定是否继续扩展到更大规模全文抽取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668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3438"/>
                </a:solidFill>
                <a:latin typeface="Microsoft YaHei"/>
              </a:rPr>
              <a:t>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960120" cy="54864"/>
          </a:xfrm>
          <a:prstGeom prst="rect">
            <a:avLst/>
          </a:prstGeom>
          <a:solidFill>
            <a:srgbClr val="DCA64A"/>
          </a:solidFill>
          <a:ln>
            <a:solidFill>
              <a:srgbClr val="DC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28800"/>
            <a:ext cx="101498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C3438"/>
                </a:solidFill>
                <a:latin typeface="Microsoft YaHei"/>
              </a:rPr>
              <a:t>AutoTeaKG-Silver 已具备论文、图谱、前端和汇报材料四类成果；下一步关键是补齐验证指标并完成投稿版定稿。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668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